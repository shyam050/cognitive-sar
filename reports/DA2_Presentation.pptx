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Episodic reward</c:v>
                </c:pt>
              </c:strCache>
            </c:strRef>
          </c:tx>
          <c:spPr>
            <a:solidFill>
              <a:srgbClr val="D9480F"/>
            </a:solidFill>
            <a:ln w="31750" cap="flat">
              <a:solidFill>
                <a:srgbClr val="D9480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480F"/>
              </a:solidFill>
              <a:ln w="9525" cap="flat">
                <a:solidFill>
                  <a:srgbClr val="D9480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Sheet1!$A$2:$A$35</c:f>
              <c:multiLvlStrCache>
                <c:ptCount val="34"/>
                <c:lvl>
                  <c:pt idx="0">
                    <c:v>10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>60</c:v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>110</c:v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>160</c:v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210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>260</c:v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310</c:v>
                  </c:pt>
                  <c:pt idx="31">
                    <c:v/>
                  </c:pt>
                  <c:pt idx="32">
                    <c:v/>
                  </c:pt>
                  <c:pt idx="33">
                    <c:v>340</c:v>
                  </c:pt>
                </c:lvl>
              </c:multiLvlStrCache>
            </c:multiLvlStrRef>
          </c:cat>
          <c:val>
            <c:numRef>
              <c:f>Sheet1!$B$2:$B$35</c:f>
              <c:numCache>
                <c:formatCode>General</c:formatCode>
                <c:ptCount val="34"/>
                <c:pt idx="0">
                  <c:v>77.4</c:v>
                </c:pt>
                <c:pt idx="1">
                  <c:v>77.1</c:v>
                </c:pt>
                <c:pt idx="2">
                  <c:v>71.9</c:v>
                </c:pt>
                <c:pt idx="3">
                  <c:v>69.1</c:v>
                </c:pt>
                <c:pt idx="4">
                  <c:v>70.1</c:v>
                </c:pt>
                <c:pt idx="5">
                  <c:v>77.1</c:v>
                </c:pt>
                <c:pt idx="6">
                  <c:v>75.7</c:v>
                </c:pt>
                <c:pt idx="7">
                  <c:v>73.8</c:v>
                </c:pt>
                <c:pt idx="8">
                  <c:v>65.2</c:v>
                </c:pt>
                <c:pt idx="9">
                  <c:v>60.6</c:v>
                </c:pt>
                <c:pt idx="10">
                  <c:v>55.4</c:v>
                </c:pt>
                <c:pt idx="11">
                  <c:v>59.7</c:v>
                </c:pt>
                <c:pt idx="12">
                  <c:v>69.1</c:v>
                </c:pt>
                <c:pt idx="13">
                  <c:v>67.2</c:v>
                </c:pt>
                <c:pt idx="14">
                  <c:v>62.9</c:v>
                </c:pt>
                <c:pt idx="15">
                  <c:v>57.2</c:v>
                </c:pt>
                <c:pt idx="16">
                  <c:v>60</c:v>
                </c:pt>
                <c:pt idx="17">
                  <c:v>61.3</c:v>
                </c:pt>
                <c:pt idx="18">
                  <c:v>66.2</c:v>
                </c:pt>
                <c:pt idx="19">
                  <c:v>65</c:v>
                </c:pt>
                <c:pt idx="20">
                  <c:v>62.7</c:v>
                </c:pt>
                <c:pt idx="21">
                  <c:v>55.9</c:v>
                </c:pt>
                <c:pt idx="22">
                  <c:v>53</c:v>
                </c:pt>
                <c:pt idx="23">
                  <c:v>59.3</c:v>
                </c:pt>
                <c:pt idx="24">
                  <c:v>61.3</c:v>
                </c:pt>
                <c:pt idx="25">
                  <c:v>61.4</c:v>
                </c:pt>
                <c:pt idx="26">
                  <c:v>64.6</c:v>
                </c:pt>
                <c:pt idx="27">
                  <c:v>61.5</c:v>
                </c:pt>
                <c:pt idx="28">
                  <c:v>60.6</c:v>
                </c:pt>
                <c:pt idx="29">
                  <c:v>55.5</c:v>
                </c:pt>
                <c:pt idx="30">
                  <c:v>60.6</c:v>
                </c:pt>
                <c:pt idx="31">
                  <c:v>70</c:v>
                </c:pt>
                <c:pt idx="32">
                  <c:v>69.4</c:v>
                </c:pt>
                <c:pt idx="33">
                  <c:v>65.7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64748B"/>
                    </a:solidFill>
                    <a:latin typeface="Arial"/>
                  </a:rPr>
                  <a:t>training episode (logged every 10)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30"/>
        </c:scaling>
        <c:delete val="0"/>
        <c:axPos val="l"/>
        <c:majorGridlines>
          <c:spPr>
            <a:ln w="6350" cap="flat">
              <a:solidFill>
                <a:srgbClr val="ECEE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64748B"/>
                    </a:solidFill>
                    <a:latin typeface="Arial"/>
                  </a:rPr>
                  <a:t>episodic reward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Victims located (of 5), higher is better</c:v>
                </c:pt>
              </c:strCache>
            </c:strRef>
          </c:tx>
          <c:spPr>
            <a:solidFill>
              <a:srgbClr val="7B849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Rule-based</c:v>
                  </c:pt>
                  <c:pt idx="1">
                    <c:v>MAPPO</c:v>
                  </c:pt>
                  <c:pt idx="2">
                    <c:v>Random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4.25</c:v>
                </c:pt>
                <c:pt idx="1">
                  <c:v>3.25</c:v>
                </c:pt>
                <c:pt idx="2">
                  <c:v>3.75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118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CEE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Mission steps until finished, lower is better</c:v>
                </c:pt>
              </c:strCache>
            </c:strRef>
          </c:tx>
          <c:spPr>
            <a:solidFill>
              <a:srgbClr val="7B849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Rule-based</c:v>
                  </c:pt>
                  <c:pt idx="1">
                    <c:v>MAPPO</c:v>
                  </c:pt>
                  <c:pt idx="2">
                    <c:v>Random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138</c:v>
                </c:pt>
                <c:pt idx="1">
                  <c:v>444</c:v>
                </c:pt>
                <c:pt idx="2">
                  <c:v>425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118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"/>
          <c:min val="0"/>
        </c:scaling>
        <c:delete val="0"/>
        <c:axPos val="l"/>
        <c:majorGridlines>
          <c:spPr>
            <a:ln w="6350" cap="flat">
              <a:solidFill>
                <a:srgbClr val="ECEE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one line: in DA1 we proposed this system, and today we are showing the working implementation and the first benchmark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line on this slide is the 'cognitive' claim from our abstract in one sentence: shared semantic state feeding the allocation decision, not just occupancy fusion.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The swap between MAPPO and the rule allocator is the whole benchmark design: same interface, two brains.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straight about O4/O5: built and running, but the learned policy has not yet beaten the greedy baseline. More training is scheduled and needs no redesign - slide 9 covers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Message: this was engineered like a team project, not a notebook. Interfaces were fixed first; contract tests keep training and deployment from drifting apart.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 question: why not train directly in Gazebo? Answer: allocation is a slow, region-level decision; the grid abstraction trains in seconds per episode, and the observation contract (unit-tested) carries the policy into the simulator unchanged.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it honestly: the learning happened early and then plateaued. That is why the benchmark is at parity, not dominance, and why a longer run is the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hide the negative result. If asked why greedy wins: pure frontier coverage is close to greedy-optimal; our hypothesis is that learned use of semantics (victim priors) pays off with more training and in the full simulator.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credibility slide. A pre-registered risk register with honest status reads as maturity. If asked about MAPPO sample efficiency: we used the Yu et al. 2021 hyperparameters and the action space is already minimal (16 regions).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Weeks are counted from this review. Critical path is the bringup; everything after that is repeatable scripts. Pre-agreed scope cuts if time runs short: D* Lite, YOLO fine-tuning, 4th robot.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Offer the live demo here. Keep the terminal open with the repo and the metrics CSV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156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Multi-Robot Search and Rescue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9659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Collaborative Perception and Reasoning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2606040"/>
            <a:ext cx="2377440" cy="0"/>
          </a:xfrm>
          <a:prstGeom prst="line">
            <a:avLst/>
          </a:prstGeom>
          <a:noFill/>
          <a:ln w="31750">
            <a:solidFill>
              <a:srgbClr val="D9480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88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DA2 implementation review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29000"/>
          <a:ext cx="49377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 No.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Aadavan Elavalagan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23BRS1268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S Vinoth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23BRS1209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Shyam Sundar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23BRS1192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Madhavan A Ramanujan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23BRS1227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309360" y="352044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System: 3-robot simulation in ROS 2 Jazzy + Gazebo Harmonic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Allocation: MAPPO (learned) compared against a rule-based baseline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approach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325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single robot is not enough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disaster, rescuers have limited visibility and face personal risk, so every minute matters.</a:t>
            </a:r>
            <a:endParaRPr lang="en-US" sz="140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robot sweeping a large collapsed structure is far too slow to find victims in time.</a:t>
            </a:r>
            <a:endParaRPr lang="en-US" sz="140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merging occupancy maps is not enough: robots still need to decide where to search next without duplicating each other's work.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09360" y="1325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proposed in DA1 (and built since)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09360" y="1691640"/>
            <a:ext cx="5440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 build one shared map together (collaborative SLAM).</a:t>
            </a:r>
            <a:endParaRPr lang="en-US" sz="140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and hazard detections from any robot are stored in a common semantic map, so the whole team knows what has been found.</a:t>
            </a:r>
            <a:endParaRPr lang="en-US" sz="140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reinforcement learning policy (MAPPO) learns how to divide the search area between robots. We compare it against a simple rule-based allocator.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434840"/>
            <a:ext cx="11274552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6634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our system and plain map merging: </a:t>
            </a:r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map also carries meaning (victims found, regions already searched), and the allocator uses that meaning to decide where each robot should go next.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block below is an implemented ROS 2 node in the repository.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robot (x3)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566160" cy="777240"/>
          </a:xfrm>
          <a:prstGeom prst="rect">
            <a:avLst/>
          </a:prstGeom>
          <a:solidFill>
            <a:srgbClr val="F1F3F5"/>
          </a:solidFill>
          <a:ln w="12700">
            <a:solidFill>
              <a:srgbClr val="C8CD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792224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slam_toolbox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2066544"/>
            <a:ext cx="33467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map per robot (namespaced)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3566160" cy="777240"/>
          </a:xfrm>
          <a:prstGeom prst="rect">
            <a:avLst/>
          </a:prstGeom>
          <a:solidFill>
            <a:srgbClr val="F1F3F5"/>
          </a:solidFill>
          <a:ln w="12700">
            <a:solidFill>
              <a:srgbClr val="C8CD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752344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(YOLO or HSV)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3026664"/>
            <a:ext cx="33467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+ lidar range = victim position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3566160" cy="777240"/>
          </a:xfrm>
          <a:prstGeom prst="rect">
            <a:avLst/>
          </a:prstGeom>
          <a:solidFill>
            <a:srgbClr val="F1F3F5"/>
          </a:solidFill>
          <a:ln w="12700">
            <a:solidFill>
              <a:srgbClr val="C8CD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712464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Nav2 + Smac (A*)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3986784"/>
            <a:ext cx="33467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navigates to assigned regions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17720" y="14173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17720" y="1737360"/>
            <a:ext cx="3291840" cy="777240"/>
          </a:xfrm>
          <a:prstGeom prst="rect">
            <a:avLst/>
          </a:prstGeom>
          <a:solidFill>
            <a:srgbClr val="F1F3F5"/>
          </a:solidFill>
          <a:ln w="12700">
            <a:solidFill>
              <a:srgbClr val="C8CD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1792224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map_merge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27448" y="2066544"/>
            <a:ext cx="307238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N local maps into one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17720" y="2697480"/>
            <a:ext cx="3291840" cy="777240"/>
          </a:xfrm>
          <a:prstGeom prst="rect">
            <a:avLst/>
          </a:prstGeom>
          <a:solidFill>
            <a:srgbClr val="F1F3F5"/>
          </a:solidFill>
          <a:ln w="12700">
            <a:solidFill>
              <a:srgbClr val="C8CD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27448" y="2752344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sar_memory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27448" y="3026664"/>
            <a:ext cx="307238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semantic map (victims, hazards)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17720" y="3657600"/>
            <a:ext cx="3291840" cy="777240"/>
          </a:xfrm>
          <a:prstGeom prst="rect">
            <a:avLst/>
          </a:prstGeom>
          <a:solidFill>
            <a:srgbClr val="F1F3F5"/>
          </a:solidFill>
          <a:ln w="12700">
            <a:solidFill>
              <a:srgbClr val="C8CD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27448" y="3712464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27448" y="3986784"/>
            <a:ext cx="307238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map into 16 search regions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549640" y="14173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layer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549640" y="1737360"/>
            <a:ext cx="3182112" cy="777240"/>
          </a:xfrm>
          <a:prstGeom prst="rect">
            <a:avLst/>
          </a:prstGeom>
          <a:solidFill>
            <a:srgbClr val="FBE9DD"/>
          </a:solidFill>
          <a:ln w="12700">
            <a:solidFill>
              <a:srgbClr val="D9480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59368" y="1792224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MAPPO allocator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59368" y="2066544"/>
            <a:ext cx="29626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region assignment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549640" y="2697480"/>
            <a:ext cx="3182112" cy="777240"/>
          </a:xfrm>
          <a:prstGeom prst="rect">
            <a:avLst/>
          </a:prstGeom>
          <a:solidFill>
            <a:srgbClr val="F1F3F5"/>
          </a:solidFill>
          <a:ln w="12700">
            <a:solidFill>
              <a:srgbClr val="C8CD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59368" y="2752344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allocator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59368" y="3026664"/>
            <a:ext cx="29626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nearest-frontier baseline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549640" y="3657600"/>
            <a:ext cx="3182112" cy="777240"/>
          </a:xfrm>
          <a:prstGeom prst="rect">
            <a:avLst/>
          </a:prstGeom>
          <a:solidFill>
            <a:srgbClr val="F1F3F5"/>
          </a:solidFill>
          <a:ln w="12700">
            <a:solidFill>
              <a:srgbClr val="C8CDD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59368" y="3712464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sar_eval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659368" y="3986784"/>
            <a:ext cx="29626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coverage, victims, overlap, timings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041648" y="2121408"/>
            <a:ext cx="557784" cy="0"/>
          </a:xfrm>
          <a:prstGeom prst="line">
            <a:avLst/>
          </a:prstGeom>
          <a:noFill/>
          <a:ln w="15875">
            <a:solidFill>
              <a:srgbClr val="8B939E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041648" y="3081528"/>
            <a:ext cx="557784" cy="0"/>
          </a:xfrm>
          <a:prstGeom prst="line">
            <a:avLst/>
          </a:prstGeom>
          <a:noFill/>
          <a:ln w="15875">
            <a:solidFill>
              <a:srgbClr val="8B939E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927848" y="2121408"/>
            <a:ext cx="603504" cy="0"/>
          </a:xfrm>
          <a:prstGeom prst="line">
            <a:avLst/>
          </a:prstGeom>
          <a:noFill/>
          <a:ln w="15875">
            <a:solidFill>
              <a:srgbClr val="8B939E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927848" y="3081528"/>
            <a:ext cx="603504" cy="0"/>
          </a:xfrm>
          <a:prstGeom prst="line">
            <a:avLst/>
          </a:prstGeom>
          <a:noFill/>
          <a:ln w="15875">
            <a:solidFill>
              <a:srgbClr val="8B939E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927848" y="4041648"/>
            <a:ext cx="603504" cy="0"/>
          </a:xfrm>
          <a:prstGeom prst="line">
            <a:avLst/>
          </a:prstGeom>
          <a:noFill/>
          <a:ln w="15875">
            <a:solidFill>
              <a:srgbClr val="8B939E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457200" y="47091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each robot publishes /robot_i/map and /detections; the shared layer publishes /map_merged, /semantic_map and /regions to the allocators.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57200" y="51206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allocators are interchangeable: both publish /robot_i/goal, which Nav2 follows, and sar_eval logs /mission_metrics for the benchmark.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57200" y="5897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and topic definitions are written down in docs/interfaces.md; they were fixed early so the four of us could build in parallel.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of the five objectives from the abstract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206240"/>
                <a:gridCol w="2011680"/>
                <a:gridCol w="203911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 in the 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  Collaborative SLAM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Fused global map from 3 robots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sar_slam map fusion + tests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O2  Semantic understanding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Victim/hazard detection in map frame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sar_perception detector node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O3  Shared memory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semantic map every robot can query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sar_memory node + RViz 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O4  RL task allocation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MAPPO assigns search regions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948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Trained, ~148k steps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training/runs/mappo_v1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O5  Benchmark vs 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Learned vs rule-based allocator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948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results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benchmark_summary.json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54864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 and O5 are functional end to end; what remains before the final review is the Gazebo-level benchmark matrix and a longer training run.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been built so far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packages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319272" y="13716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319272" y="1965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modules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181344" y="13716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181344" y="1965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passing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043416" y="13716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9043416" y="1965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episodes logged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11274552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code (pure Python)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sar_gym: grid search environment, 16 region actions, A* executor</a:t>
            </a:r>
            <a:endParaRPr lang="en-US" sz="125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mappo: shared actor + centralized critic, GAE, PPO-clip</a:t>
            </a:r>
            <a:endParaRPr lang="en-US" sz="125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train.py / evaluate.py: training and benchmark scripts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398264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code (ROS 2 Jazzy)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98264" y="301752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sar_worlds + sar_robot: maze world and diff-drive robot</a:t>
            </a:r>
            <a:endParaRPr lang="en-US" sz="125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sar_slam, sar_memory, sar_nav: fusion, semantic map, frontiers</a:t>
            </a:r>
            <a:endParaRPr lang="en-US" sz="125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sar_alloc_rule and sar_alloc_rl: the two allocators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339328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and docs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39328" y="301752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tests: training vs deployment observation spec</a:t>
            </a:r>
            <a:endParaRPr lang="en-US" sz="125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fusion unit tests (rotation, offsets, unknown cells)</a:t>
            </a:r>
            <a:endParaRPr lang="en-US" sz="125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BUILD_PLAN.md, README, docs/interfaces.md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54864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system starts with one command: ros2 launch sar_bringup multi_sar.launch.py robots:=3 allocator:=rule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from a repository audit on 2026-09-12. Environment: WSL2 (Ubuntu 24.04), ROS 2 Jazzy LTS, Gazebo Harmonic.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allocation policy is trained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Shared maze generator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code generates the training maps and the Gazebo world, so the policy practises on the room layouts it will actually face.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0" y="13716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Lightweight grid environment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217920" y="169164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runs on a 64x64 grid: each robot picks one of 16 regions, an A* executor drives it there. No physics simulation needed for allocation decisions.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MAPPO (centralized training)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critic sees the full map during training; each robot's actor only sees its own view at execution time (CTDE).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29260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Deployment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217920" y="324612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checkpoint is loaded by the sar_alloc_rl ROS node, which publishes region goals. A unit test pins the observation format.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572000"/>
            <a:ext cx="11274552" cy="1188720"/>
          </a:xfrm>
          <a:prstGeom prst="rect">
            <a:avLst/>
          </a:prstGeom>
          <a:solidFill>
            <a:srgbClr val="F1F3F5"/>
          </a:solidFill>
          <a:ln w="12700">
            <a:solidFill>
              <a:srgbClr val="C8CD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function: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50292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+0.10 (new area explored) + 10 (victim located) - 0.02 (cell another robot already searched) - 0.01 (time) - 0.05 (choosing a finished region)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training takes minutes on a CPU instead of days in the simulator.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results</a:t>
            </a:r>
            <a:endParaRPr lang="en-US" sz="27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417320"/>
          <a:ext cx="74980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8321040" y="1463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curve shows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321040" y="1783080"/>
            <a:ext cx="3429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coverage settled at 83-86% early in training and stayed there.</a:t>
            </a:r>
            <a:endParaRPr lang="en-US" sz="1250" dirty="0"/>
          </a:p>
          <a:p>
            <a:pPr marL="127000" indent="-1270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plateaus around 66-74: the basic behaviour (spread out, do not re-search, pick up victims) is learned within the first third.</a:t>
            </a:r>
            <a:endParaRPr lang="en-US" sz="1250" dirty="0"/>
          </a:p>
          <a:p>
            <a:pPr marL="127000" indent="-1270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steps did not yet convert into beating the rule baseline - see next slide.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training/runs/mappo_v1, 34 checkpoints over ~148k environment steps (MAPPO, 3 agents, GAE 0.95, lr 3e-4).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learned policy vs baselines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Victims located (of 5), higher is better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91640"/>
          <a:ext cx="5394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805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finds 1 victim more on average.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336792" y="1371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steps until finished, lower is better</a:t>
            </a:r>
            <a:endParaRPr lang="en-US" sz="135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336792" y="1691640"/>
          <a:ext cx="5394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6336792" y="44805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finishes most missions early; MAPPO often runs to the step cap.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7200" y="5120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coverage: 85-86% for all three policies (no significant difference).   Time to first detection: MAPPO 43 steps, rule-based 49, random 57.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54864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greedy frontier allocation is a strong baseline and the learned policy has not beaten it yet at ~150k training steps. Where the learned policy already looks better is detection speed; victims and mission time need more training.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6492240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training/evaluate.py, 4 held-out maps x 2 episodes, 3 robots, 600-step cap. Full table: reports/benchmark_summary.json.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works, what does not yet, and what we do next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5394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runs end to end: detection, shared semantic map, allocation, navigation, metrics.</a:t>
            </a:r>
            <a:endParaRPr lang="en-US" sz="1300" dirty="0"/>
          </a:p>
          <a:p>
            <a:pPr marL="127000" indent="-1270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Multi-robot map fusion is unit-tested (rotation, offsets, unknown areas).</a:t>
            </a:r>
            <a:endParaRPr lang="en-US" sz="1300" dirty="0"/>
          </a:p>
          <a:p>
            <a:pPr marL="127000" indent="-1270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deployment share a fixed observation contract, enforced by tests.</a:t>
            </a:r>
            <a:endParaRPr lang="en-US" sz="1300" dirty="0"/>
          </a:p>
          <a:p>
            <a:pPr marL="127000" indent="-1270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learned policy already reaches the same map coverage as the hand-written allocator.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137160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there yet  -&gt;  our plan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09360" y="1737360"/>
            <a:ext cx="5440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Victims found per mission still trails the greedy baseline.  Plan: 300-500k more training steps on a Colab GPU (2-3 hours) and a reward-weight tune.</a:t>
            </a:r>
            <a:endParaRPr lang="en-US" sz="1300" dirty="0"/>
          </a:p>
          <a:p>
            <a:pPr marL="127000" indent="-1270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(argmax) policy gets stuck at this training level.  Plan: keep sampling at deployment (already the default), re-test after longer training.</a:t>
            </a:r>
            <a:endParaRPr lang="en-US" sz="1300" dirty="0"/>
          </a:p>
          <a:p>
            <a:pPr marL="127000" indent="-1270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so far are in the abstract environment.  Plan: run the Gazebo-level experiment matrix (10 runs per allocator), then the report.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5120640"/>
            <a:ext cx="11274552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53035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gaps were written down with their fixes in the build plan (BUILD_PLAN.md, section 7) before implementation started. None of them requires a redesign.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until the final review</a:t>
            </a:r>
            <a:endParaRPr lang="en-US" sz="2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7342632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1-2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Simulator bringup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 WSL2 + ROS 2 Jazzy + Gazebo, run and record the 3-robot mission (rule-based) as the demo backup.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2-3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Gazebo benchmark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runs per allocator with scripts/run_experiments.sh; produce coverage, victims and overlap curves.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3-4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Longer training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300-500k steps on Colab GPU, re-benchmark, freeze the final checkpoint.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5-6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ablation (allocation without semantic memory) and the final report with the recorded demo.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recorded mission video is the fallback for the live demo; the rule-based allocator is the default demo, RL on request.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objectives from the DA1 abstract are implemented and running.</a:t>
            </a:r>
            <a:endParaRPr lang="en-US" sz="1500" dirty="0"/>
          </a:p>
          <a:p>
            <a:pPr marL="127000" indent="-1270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learned allocator matches the rule-based baseline on coverage today; closing the remaining gap is a training-budget problem, not a design problem.</a:t>
            </a:r>
            <a:endParaRPr lang="en-US" sz="1500" dirty="0"/>
          </a:p>
          <a:p>
            <a:pPr marL="127000" indent="-1270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Gazebo-level benchmark matrix, longer training, final report and recorded demo.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3794760"/>
            <a:ext cx="2377440" cy="0"/>
          </a:xfrm>
          <a:prstGeom prst="line">
            <a:avLst/>
          </a:prstGeom>
          <a:noFill/>
          <a:ln w="31750">
            <a:solidFill>
              <a:srgbClr val="D9480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023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Questions?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cognitive-sar/  (BUILD_PLAN.md, docs/interfaces.md, reports/)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command: ros2 launch sar_bringup multi_sar.launch.py robots:=3 allocator:=rule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Aadavan Elavalagan (23BRS1268), K S Vinoth (23BRS1209), Shyam Sundar (23BRS1192), Madhavan A Ramanujan (23BRS1227)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Cognitive Multi-Robot Search and Rescue - DA2 Review</dc:title>
  <dc:subject>PptxGenJS Presentation</dc:subject>
  <dc:creator>SAR Team 23BRS</dc:creator>
  <cp:lastModifiedBy>SAR Team 23BRS</cp:lastModifiedBy>
  <cp:revision>1</cp:revision>
  <dcterms:created xsi:type="dcterms:W3CDTF">2026-09-12T07:05:40Z</dcterms:created>
  <dcterms:modified xsi:type="dcterms:W3CDTF">2026-09-12T07:05:40Z</dcterms:modified>
</cp:coreProperties>
</file>